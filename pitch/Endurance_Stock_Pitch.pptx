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db53eaa4-1422-ae48-396a-10385d9d5fea}">
          <p14:sldIdLst>
            <p14:sldId id="256"/>
            <p14:sldId id="257"/>
          </p14:sldIdLst>
        </p14:section>
        <p14:section name="Business" id="{3e7f01a5-d462-8b65-d9ea-6d63d7e6b7fc}">
          <p14:sldIdLst>
            <p14:sldId id="258"/>
            <p14:sldId id="259"/>
          </p14:sldIdLst>
        </p14:section>
        <p14:section name="Thesis" id="{b1132cb9-62eb-3393-26b7-4ed96404ce19}">
          <p14:sldIdLst>
            <p14:sldId id="260"/>
            <p14:sldId id="261"/>
            <p14:sldId id="262"/>
          </p14:sldIdLst>
        </p14:section>
        <p14:section name="Valuation" id="{28f4a10f-ff0f-d3a0-809d-a16bf9fc4fe5}">
          <p14:sldIdLst>
            <p14:sldId id="263"/>
            <p14:sldId id="264"/>
            <p14:sldId id="265"/>
          </p14:sldIdLst>
        </p14:section>
        <p14:section name="Risks" id="{54d2d25c-3be4-2127-dacf-60052e6684c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+mn-lt"/>
              </a:rPr>
              <a:t>Consolidated revenue by product, Q1 FY27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9B2D"/>
              </a:solidFill>
              <a:effectLst/>
            </c:spPr>
          </c:dPt>
          <c:dPt>
            <c:idx val="1"/>
            <c:bubble3D val="0"/>
            <c:spPr>
              <a:solidFill>
                <a:srgbClr val="2C3E50"/>
              </a:solidFill>
              <a:effectLst/>
            </c:spPr>
          </c:dPt>
          <c:dPt>
            <c:idx val="2"/>
            <c:bubble3D val="0"/>
            <c:spPr>
              <a:solidFill>
                <a:srgbClr val="5D7183"/>
              </a:solidFill>
              <a:effectLst/>
            </c:spPr>
          </c:dPt>
          <c:dPt>
            <c:idx val="3"/>
            <c:bubble3D val="0"/>
            <c:spPr>
              <a:solidFill>
                <a:srgbClr val="A9B6C2"/>
              </a:solidFill>
              <a:effectLst/>
            </c:spPr>
          </c:dPt>
          <c:dPt>
            <c:idx val="4"/>
            <c:bubble3D val="0"/>
            <c:spPr>
              <a:solidFill>
                <a:srgbClr val="D9DEE3"/>
              </a:solidFill>
              <a:effectLst/>
            </c:spPr>
          </c:dPt>
          <c:dPt>
            <c:idx val="5"/>
            <c:bubble3D val="0"/>
            <c:spPr>
              <a:solidFill>
                <a:srgbClr val="8A6A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Die casting</c:v>
                </c:pt>
                <c:pt idx="1">
                  <c:v>Suspension</c:v>
                </c:pt>
                <c:pt idx="2">
                  <c:v>Disc brakes</c:v>
                </c:pt>
                <c:pt idx="3">
                  <c:v>Alloy wheels</c:v>
                </c:pt>
                <c:pt idx="4">
                  <c:v>Transmission &amp; aftermarket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44.5</c:v>
                </c:pt>
                <c:pt idx="1">
                  <c:v>24.2</c:v>
                </c:pt>
                <c:pt idx="2">
                  <c:v>11</c:v>
                </c:pt>
                <c:pt idx="3">
                  <c:v>8.5</c:v>
                </c:pt>
                <c:pt idx="4">
                  <c:v>6.5</c:v>
                </c:pt>
                <c:pt idx="5">
                  <c:v>5.3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2C3E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+mn-lt"/>
              </a:rPr>
              <a:t>Consolidated revenue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7549</c:v>
                </c:pt>
                <c:pt idx="1">
                  <c:v>8804</c:v>
                </c:pt>
                <c:pt idx="2">
                  <c:v>10241</c:v>
                </c:pt>
                <c:pt idx="3">
                  <c:v>11561</c:v>
                </c:pt>
                <c:pt idx="4">
                  <c:v>14596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+mn-lt"/>
              </a:rPr>
              <a:t>EBITDA margin, Q1 FY26 vs Q1 FY27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FY26</c:v>
                </c:pt>
              </c:strCache>
            </c:strRef>
          </c:tx>
          <c:spPr>
            <a:solidFill>
              <a:srgbClr val="A9B6C2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Consolidated</c:v>
                  </c:pt>
                  <c:pt idx="1">
                    <c:v>India (standalone)</c:v>
                  </c:pt>
                  <c:pt idx="2">
                    <c:v>Europe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0.143</c:v>
                </c:pt>
                <c:pt idx="1">
                  <c:v>0.13</c:v>
                </c:pt>
                <c:pt idx="2">
                  <c:v>0.174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Q1 FY27</c:v>
                </c:pt>
              </c:strCache>
            </c:strRef>
          </c:tx>
          <c:spPr>
            <a:solidFill>
              <a:srgbClr val="E39B2D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Consolidated</c:v>
                  </c:pt>
                  <c:pt idx="1">
                    <c:v>India (standalone)</c:v>
                  </c:pt>
                  <c:pt idx="2">
                    <c:v>Europe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0.131</c:v>
                </c:pt>
                <c:pt idx="1">
                  <c:v>0.112</c:v>
                </c:pt>
                <c:pt idx="2">
                  <c:v>0.182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B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E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+mn-lt"/>
              </a:rPr>
              <a:t>₹ Cr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cash flow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742</c:v>
                </c:pt>
                <c:pt idx="1">
                  <c:v>862</c:v>
                </c:pt>
                <c:pt idx="2">
                  <c:v>1057</c:v>
                </c:pt>
                <c:pt idx="3">
                  <c:v>1532</c:v>
                </c:pt>
                <c:pt idx="4">
                  <c:v>1851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A9B6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529</c:v>
                </c:pt>
                <c:pt idx="1">
                  <c:v>636</c:v>
                </c:pt>
                <c:pt idx="2">
                  <c:v>835</c:v>
                </c:pt>
                <c:pt idx="3">
                  <c:v>1053</c:v>
                </c:pt>
                <c:pt idx="4">
                  <c:v>1296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E39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213</c:v>
                </c:pt>
                <c:pt idx="1">
                  <c:v>226</c:v>
                </c:pt>
                <c:pt idx="2">
                  <c:v>222</c:v>
                </c:pt>
                <c:pt idx="3">
                  <c:v>478</c:v>
                </c:pt>
                <c:pt idx="4">
                  <c:v>555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E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3E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+mn-lt"/>
              </a:rPr>
              <a:t>Value per share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per share</c:v>
                </c:pt>
              </c:strCache>
            </c:strRef>
          </c:tx>
          <c:spPr>
            <a:solidFill>
              <a:srgbClr val="A9B6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6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718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53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Bear</c:v>
                  </c:pt>
                  <c:pt idx="1">
                    <c:v>Base</c:v>
                  </c:pt>
                  <c:pt idx="2">
                    <c:v>Bull</c:v>
                  </c:pt>
                  <c:pt idx="3">
                    <c:v>Price today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1001</c:v>
                </c:pt>
                <c:pt idx="1">
                  <c:v>1564</c:v>
                </c:pt>
                <c:pt idx="2">
                  <c:v>2138</c:v>
                </c:pt>
                <c:pt idx="3">
                  <c:v>2406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C3E50"/>
                </a:solidFill>
                <a:latin typeface="+mn-lt"/>
              </a:rPr>
              <a:t>Trailing P/E (x), Oct 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P/E</c:v>
                </c:pt>
              </c:strCache>
            </c:strRef>
          </c:tx>
          <c:spPr>
            <a:solidFill>
              <a:srgbClr val="A9B6C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6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6C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6C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B6C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Gabriel India</c:v>
                  </c:pt>
                  <c:pt idx="1">
                    <c:v>Sona BLW</c:v>
                  </c:pt>
                  <c:pt idx="2">
                    <c:v>Uno Minda</c:v>
                  </c:pt>
                  <c:pt idx="3">
                    <c:v>Endurance</c:v>
                  </c:pt>
                  <c:pt idx="4">
                    <c:v>Minda Corp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84.2</c:v>
                </c:pt>
                <c:pt idx="1">
                  <c:v>71.6</c:v>
                </c:pt>
                <c:pt idx="2">
                  <c:v>53.3</c:v>
                </c:pt>
                <c:pt idx="3">
                  <c:v>34.9</c:v>
                </c:pt>
                <c:pt idx="4">
                  <c:v>31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71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call: great company, wrong price. The DCF base case is about 35% below the market price; even the bull case is below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numbers: fair value, the growth the market is pricing in, and the multiple gap. Then the three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FY26 results press release (NSE, 14 May 2026); Q1 FY27 investor presentation (NSE, 13 Aug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StockAnalysis.com (S&amp;P Global). Orders: Q1 FY27 investor presentation. Bajaj share: ICRA rationale, 30 Sep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Q1 FY27 investor presentation (NSE, 13 Aug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StockAnalysis.com cash flow statement (S&amp;P Global). Mgmt expects FY27 capex similar to FY26.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Computed by solving the DCF for each input separately (dcf/build_dcf.py model, base case otherwise). The 10-year history CAGR is from Screener.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values from the recalculated workbook with the scenario switch set to 1, 2 and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computed live in the Sensitivity tab of the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data: Value Research and 5paisa stock pages, 5-16 Oct 2026. Bharat Forge excluded (126x P/E, defence mix). Gabriel and Bharat Forge prices are as of 5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move: Trading Economics news item, 13 Oct 2026. Sensitivity per 0.5pt WACC from the Sensitivity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Student equity research for learning, not investment advice. Prices as of 16 Oct 2026 (NSE close).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Endurance Technologies: a quality franchise, priced for the bull case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NSE: ENDURANCE  ·  Auto components  ·  Stock pitch, October 2026</a:t>
            </a:r>
            <a:endParaRPr lang="en-US" sz="1800" dirty="0"/>
          </a:p>
        </p:txBody>
      </p:sp>
      <p:sp>
        <p:nvSpPr>
          <p:cNvPr id="4" name="kpi-label-0"/>
          <p:cNvSpPr txBox="1"/>
          <p:nvPr/>
        </p:nvSpPr>
        <p:spPr>
          <a:xfrm>
            <a:off x="54864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Rating</a:t>
            </a:r>
            <a:endParaRPr lang="en-US" sz="1100" dirty="0"/>
          </a:p>
        </p:txBody>
      </p:sp>
      <p:sp>
        <p:nvSpPr>
          <p:cNvPr id="5" name="kpi-value-0"/>
          <p:cNvSpPr txBox="1"/>
          <p:nvPr/>
        </p:nvSpPr>
        <p:spPr>
          <a:xfrm>
            <a:off x="5486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39B2D"/>
                </a:solidFill>
              </a:rPr>
              <a:t>UNDERWEIGHT</a:t>
            </a:r>
            <a:endParaRPr lang="en-US" sz="2200" dirty="0"/>
          </a:p>
        </p:txBody>
      </p:sp>
      <p:sp>
        <p:nvSpPr>
          <p:cNvPr id="6" name="kpi-label-1"/>
          <p:cNvSpPr txBox="1"/>
          <p:nvPr/>
        </p:nvSpPr>
        <p:spPr>
          <a:xfrm>
            <a:off x="260604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Price (16 Oct 26)</a:t>
            </a:r>
            <a:endParaRPr lang="en-US" sz="1100" dirty="0"/>
          </a:p>
        </p:txBody>
      </p:sp>
      <p:sp>
        <p:nvSpPr>
          <p:cNvPr id="7" name="kpi-value-1"/>
          <p:cNvSpPr txBox="1"/>
          <p:nvPr/>
        </p:nvSpPr>
        <p:spPr>
          <a:xfrm>
            <a:off x="26060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₹2,406</a:t>
            </a:r>
            <a:endParaRPr lang="en-US" sz="2200" dirty="0"/>
          </a:p>
        </p:txBody>
      </p:sp>
      <p:sp>
        <p:nvSpPr>
          <p:cNvPr id="8" name="kpi-label-2"/>
          <p:cNvSpPr txBox="1"/>
          <p:nvPr/>
        </p:nvSpPr>
        <p:spPr>
          <a:xfrm>
            <a:off x="466344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DCF fair value</a:t>
            </a:r>
            <a:endParaRPr lang="en-US" sz="1100" dirty="0"/>
          </a:p>
        </p:txBody>
      </p:sp>
      <p:sp>
        <p:nvSpPr>
          <p:cNvPr id="9" name="kpi-value-2"/>
          <p:cNvSpPr txBox="1"/>
          <p:nvPr/>
        </p:nvSpPr>
        <p:spPr>
          <a:xfrm>
            <a:off x="46634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₹1,564</a:t>
            </a:r>
            <a:endParaRPr lang="en-US" sz="2200" dirty="0"/>
          </a:p>
        </p:txBody>
      </p:sp>
      <p:sp>
        <p:nvSpPr>
          <p:cNvPr id="10" name="kpi-label-3"/>
          <p:cNvSpPr txBox="1"/>
          <p:nvPr/>
        </p:nvSpPr>
        <p:spPr>
          <a:xfrm>
            <a:off x="672084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Implied return</a:t>
            </a:r>
            <a:endParaRPr lang="en-US" sz="1100" dirty="0"/>
          </a:p>
        </p:txBody>
      </p:sp>
      <p:sp>
        <p:nvSpPr>
          <p:cNvPr id="11" name="kpi-value-3"/>
          <p:cNvSpPr txBox="1"/>
          <p:nvPr/>
        </p:nvSpPr>
        <p:spPr>
          <a:xfrm>
            <a:off x="67208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39B2D"/>
                </a:solidFill>
              </a:rPr>
              <a:t>-35%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Student research for learning purposes, not investment advice.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call in one slide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We like the business. We don't like what the price already assumes.</a:t>
            </a:r>
            <a:endParaRPr lang="en-US" sz="1400" dirty="0"/>
          </a:p>
        </p:txBody>
      </p:sp>
      <p:sp>
        <p:nvSpPr>
          <p:cNvPr id="4" name="s2a-card"/>
          <p:cNvSpPr/>
          <p:nvPr/>
        </p:nvSpPr>
        <p:spPr>
          <a:xfrm>
            <a:off x="45720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2a-num"/>
          <p:cNvSpPr txBox="1"/>
          <p:nvPr/>
        </p:nvSpPr>
        <p:spPr>
          <a:xfrm>
            <a:off x="640080" y="1508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₹1,564</a:t>
            </a:r>
            <a:endParaRPr lang="en-US" sz="3400" dirty="0"/>
          </a:p>
        </p:txBody>
      </p:sp>
      <p:sp>
        <p:nvSpPr>
          <p:cNvPr id="6" name="s2a-label"/>
          <p:cNvSpPr txBox="1"/>
          <p:nvPr/>
        </p:nvSpPr>
        <p:spPr>
          <a:xfrm>
            <a:off x="640080" y="21214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Base-case DCF value per share (Bear ₹1,001 / Bull ₹2,138)</a:t>
            </a:r>
            <a:endParaRPr lang="en-US" sz="1100" dirty="0"/>
          </a:p>
        </p:txBody>
      </p:sp>
      <p:sp>
        <p:nvSpPr>
          <p:cNvPr id="7" name="s2b-card"/>
          <p:cNvSpPr/>
          <p:nvPr/>
        </p:nvSpPr>
        <p:spPr>
          <a:xfrm>
            <a:off x="326898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2b-num"/>
          <p:cNvSpPr txBox="1"/>
          <p:nvPr/>
        </p:nvSpPr>
        <p:spPr>
          <a:xfrm>
            <a:off x="3451860" y="1508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~18%</a:t>
            </a:r>
            <a:endParaRPr lang="en-US" sz="3400" dirty="0"/>
          </a:p>
        </p:txBody>
      </p:sp>
      <p:sp>
        <p:nvSpPr>
          <p:cNvPr id="9" name="s2b-label"/>
          <p:cNvSpPr txBox="1"/>
          <p:nvPr/>
        </p:nvSpPr>
        <p:spPr>
          <a:xfrm>
            <a:off x="3451860" y="21214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10-yr revenue CAGR needed to justify ₹2,406 (11% delivered last decade)</a:t>
            </a:r>
            <a:endParaRPr lang="en-US" sz="1100" dirty="0"/>
          </a:p>
        </p:txBody>
      </p:sp>
      <p:sp>
        <p:nvSpPr>
          <p:cNvPr id="10" name="s2c-card"/>
          <p:cNvSpPr/>
          <p:nvPr/>
        </p:nvSpPr>
        <p:spPr>
          <a:xfrm>
            <a:off x="608076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2c-num"/>
          <p:cNvSpPr txBox="1"/>
          <p:nvPr/>
        </p:nvSpPr>
        <p:spPr>
          <a:xfrm>
            <a:off x="6263640" y="1508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15.0x</a:t>
            </a:r>
            <a:endParaRPr lang="en-US" sz="3400" dirty="0"/>
          </a:p>
        </p:txBody>
      </p:sp>
      <p:sp>
        <p:nvSpPr>
          <p:cNvPr id="12" name="s2c-label"/>
          <p:cNvSpPr txBox="1"/>
          <p:nvPr/>
        </p:nvSpPr>
        <p:spPr>
          <a:xfrm>
            <a:off x="6263640" y="21214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EV / FY27E EBITDA at today's price, vs 9.8x at our base-case value</a:t>
            </a:r>
            <a:endParaRPr lang="en-US" sz="1100" dirty="0"/>
          </a:p>
        </p:txBody>
      </p:sp>
      <p:sp>
        <p:nvSpPr>
          <p:cNvPr id="13" name="s2-points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Good business: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34 plants, leader in 2W suspension and castings, Bajaj share falling (55-60% → 50% of standalone), ₹1,806 Cr EV orders.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But margins are slipping: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Q1 FY27 standalone EBITDA margin 11.2% vs 13.0% a year ago, on input costs.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And growth is capital-hungry: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capex ran at ~9% of sales in FY26; free cash flow was only 58% of net profit.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Endurance makes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Aluminium castings, suspension, brakes and wheels, mainly for Indian two-wheelers and European cars.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3-card-0"/>
          <p:cNvSpPr/>
          <p:nvPr/>
        </p:nvSpPr>
        <p:spPr>
          <a:xfrm>
            <a:off x="4846320" y="137160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8348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₹14,720 Cr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FY26 total income, +26% (consolidated)</a:t>
            </a:r>
            <a:endParaRPr lang="en-US" sz="1100" dirty="0"/>
          </a:p>
        </p:txBody>
      </p:sp>
      <p:sp>
        <p:nvSpPr>
          <p:cNvPr id="8" name="s3-card-1"/>
          <p:cNvSpPr/>
          <p:nvPr/>
        </p:nvSpPr>
        <p:spPr>
          <a:xfrm>
            <a:off x="4846320" y="219456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22860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73% / 27%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India / Europe (Italy, Germany) split of FY26 income</a:t>
            </a:r>
            <a:endParaRPr lang="en-US" sz="1100" dirty="0"/>
          </a:p>
        </p:txBody>
      </p:sp>
      <p:sp>
        <p:nvSpPr>
          <p:cNvPr id="11" name="s3-card-2"/>
          <p:cNvSpPr/>
          <p:nvPr/>
        </p:nvSpPr>
        <p:spPr>
          <a:xfrm>
            <a:off x="4846320" y="301752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83480" y="31089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34 plants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20 India, 9 Italy, 5 Germany</a:t>
            </a:r>
            <a:endParaRPr lang="en-US" sz="1100" dirty="0"/>
          </a:p>
        </p:txBody>
      </p:sp>
      <p:sp>
        <p:nvSpPr>
          <p:cNvPr id="14" name="s3-card-3"/>
          <p:cNvSpPr/>
          <p:nvPr/>
        </p:nvSpPr>
        <p:spPr>
          <a:xfrm>
            <a:off x="4846320" y="3840480"/>
            <a:ext cx="38404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3480" y="3931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~83%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India revenue from 2W (motorcycles 68%, scooters 14%)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bull case is real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Revenue nearly doubled in four years, and the order book is diversifying away from one customer.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4-card-0"/>
          <p:cNvSpPr/>
          <p:nvPr/>
        </p:nvSpPr>
        <p:spPr>
          <a:xfrm>
            <a:off x="5212080" y="1371600"/>
            <a:ext cx="3474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49240" y="1444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Order wins (ex-Bajaj)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349240" y="1700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₹5,270 Cr over 5 years; ₹1,205 Cr in FY26</a:t>
            </a:r>
            <a:endParaRPr lang="en-US" sz="1100" dirty="0"/>
          </a:p>
        </p:txBody>
      </p:sp>
      <p:sp>
        <p:nvSpPr>
          <p:cNvPr id="8" name="s4-card-1"/>
          <p:cNvSpPr/>
          <p:nvPr/>
        </p:nvSpPr>
        <p:spPr>
          <a:xfrm>
            <a:off x="5212080" y="2194560"/>
            <a:ext cx="3474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49240" y="2267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EV orders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2523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₹1,806 Cr cumulative incl. Bajaj; castings, brakes, battery packs</a:t>
            </a:r>
            <a:endParaRPr lang="en-US" sz="1100" dirty="0"/>
          </a:p>
        </p:txBody>
      </p:sp>
      <p:sp>
        <p:nvSpPr>
          <p:cNvPr id="11" name="s4-card-2"/>
          <p:cNvSpPr/>
          <p:nvPr/>
        </p:nvSpPr>
        <p:spPr>
          <a:xfrm>
            <a:off x="5212080" y="3017520"/>
            <a:ext cx="3474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49240" y="3090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Customer mix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3346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Bajaj 50% of standalone revenue, down from 55-60% (ICRA)</a:t>
            </a:r>
            <a:endParaRPr lang="en-US" sz="1100" dirty="0"/>
          </a:p>
        </p:txBody>
      </p:sp>
      <p:sp>
        <p:nvSpPr>
          <p:cNvPr id="14" name="s4-card-3"/>
          <p:cNvSpPr/>
          <p:nvPr/>
        </p:nvSpPr>
        <p:spPr>
          <a:xfrm>
            <a:off x="5212080" y="3840480"/>
            <a:ext cx="34747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3913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New products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41696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Dual-channel ABS, alloy wheels, 4W castings, BMS electronics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Thesis 1: margins are going the wrong way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Revenue grew 30% in Q1 FY27, but EBITDA grew only 19%.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5-text"/>
          <p:cNvSpPr txBox="1"/>
          <p:nvPr/>
        </p:nvSpPr>
        <p:spPr>
          <a:xfrm>
            <a:off x="5577840" y="13716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India is 72% of revenue, and its margin fell 1.8 pts.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Management blames higher input costs. Aluminium and energy are pass-through with a lag, but new plants (ABS, alloy wheels, 4W castings) also carry start-up costs.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Europe's margin held, but PAT fell 23% on accelerated depreciation of ICE programmes being phased out.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Our base case still assumes recovery to 13.8% by FY30. If margins stay near 12.5% (bear), fair value is ₹1,001.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Thesis 2: growth eats the cash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Capex has grown faster than operating cash flow; free cash flow is only ~58% of profit.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6a-card"/>
          <p:cNvSpPr/>
          <p:nvPr/>
        </p:nvSpPr>
        <p:spPr>
          <a:xfrm>
            <a:off x="6126480" y="1371600"/>
            <a:ext cx="2560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6a-num"/>
          <p:cNvSpPr txBox="1"/>
          <p:nvPr/>
        </p:nvSpPr>
        <p:spPr>
          <a:xfrm>
            <a:off x="6309360" y="1508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58%</a:t>
            </a:r>
            <a:endParaRPr lang="en-US" sz="3400" dirty="0"/>
          </a:p>
        </p:txBody>
      </p:sp>
      <p:sp>
        <p:nvSpPr>
          <p:cNvPr id="7" name="s6a-label"/>
          <p:cNvSpPr txBox="1"/>
          <p:nvPr/>
        </p:nvSpPr>
        <p:spPr>
          <a:xfrm>
            <a:off x="6309360" y="21214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FY26 free cash flow / net profit (₹555 Cr / ₹952 Cr)</a:t>
            </a:r>
            <a:endParaRPr lang="en-US" sz="1100" dirty="0"/>
          </a:p>
        </p:txBody>
      </p:sp>
      <p:sp>
        <p:nvSpPr>
          <p:cNvPr id="8" name="s6b-card"/>
          <p:cNvSpPr/>
          <p:nvPr/>
        </p:nvSpPr>
        <p:spPr>
          <a:xfrm>
            <a:off x="6126480" y="2788920"/>
            <a:ext cx="256032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6b-num"/>
          <p:cNvSpPr txBox="1"/>
          <p:nvPr/>
        </p:nvSpPr>
        <p:spPr>
          <a:xfrm>
            <a:off x="6309360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8.9%</a:t>
            </a:r>
            <a:endParaRPr lang="en-US" sz="3400" dirty="0"/>
          </a:p>
        </p:txBody>
      </p:sp>
      <p:sp>
        <p:nvSpPr>
          <p:cNvPr id="10" name="s6b-label"/>
          <p:cNvSpPr txBox="1"/>
          <p:nvPr/>
        </p:nvSpPr>
        <p:spPr>
          <a:xfrm>
            <a:off x="6309360" y="3538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FY26 capex / revenue, plus ₹358 Cr spent on acquisitions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Thesis 3: the price assumes a lot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Reverse DCF: what has to be true for ₹2,406 to be fair value, holding everything else at our base case.</a:t>
            </a:r>
            <a:endParaRPr lang="en-US" sz="1400" dirty="0"/>
          </a:p>
        </p:txBody>
      </p:sp>
      <p:sp>
        <p:nvSpPr>
          <p:cNvPr id="4" name="s7-card-0"/>
          <p:cNvSpPr/>
          <p:nvPr/>
        </p:nvSpPr>
        <p:spPr>
          <a:xfrm>
            <a:off x="457200" y="137160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17.9%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10-year revenue CAGR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vs 11.3% in our base case and 11% actually delivered over the last 10 years</a:t>
            </a:r>
            <a:endParaRPr lang="en-US" sz="1100" dirty="0"/>
          </a:p>
        </p:txBody>
      </p:sp>
      <p:sp>
        <p:nvSpPr>
          <p:cNvPr id="8" name="s7-card-1"/>
          <p:cNvSpPr/>
          <p:nvPr/>
        </p:nvSpPr>
        <p:spPr>
          <a:xfrm>
            <a:off x="3268980" y="137160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9.2%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WACC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vs 11.2% from CAPM (Rf 5.3%, beta 0.87, India ERP 7.1%)</a:t>
            </a:r>
            <a:endParaRPr lang="en-US" sz="1100" dirty="0"/>
          </a:p>
        </p:txBody>
      </p:sp>
      <p:sp>
        <p:nvSpPr>
          <p:cNvPr id="12" name="s7-card-2"/>
          <p:cNvSpPr/>
          <p:nvPr/>
        </p:nvSpPr>
        <p:spPr>
          <a:xfrm>
            <a:off x="6080760" y="137160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17.4%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EBITDA margin, every year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vs 13.2% in FY26 and a five-year high of 13.2%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Any one of these alone would justify today's price. We think none of them is the most likely outcome.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DCF: fair value ₹1,564 in the base case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Even the bull case is below today's price.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67512"/>
                <a:gridCol w="676656"/>
                <a:gridCol w="6675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10-yr revenue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 (steady)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/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21208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WACC 11.2% · terminal growth 5% · FCFF, mid-year discounting · terminal value ~66% of EV. Full model: dcf/Endurance_DCF.xlsx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sure are we? Sensitivity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Value per share (₹) by WACC and terminal growth. Only the most optimistic corner reaches today's price.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82296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\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37160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Green = at or above ₹2,406.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Our WACC is 11.2%. Getting to today's price needs WACC under ~10% and 6% growth forever.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Exit-multiple check: a 12x terminal EV/EBITDA gives ₹2,372, but implies 7.7% perpetual growth.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Counterpoint: cheapest in its peer group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On multiples, Endurance trades at a large discount to listed peers. That is the main risk to our call.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94960" y="13716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Peer median P/E is ~62x vs 35x for Endurance.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Applying the peer median to TTM EPS (₹68.95) gives ~₹4,300.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Why we still lean on the DCF: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whole sector trades on growth that few companies deliver for a decade. Relative value tells us Endurance is cheaper than its peers, not that it is cheap.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would make us wrong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Signals to watch, and what each would mean for the call.</a:t>
            </a:r>
            <a:endParaRPr lang="en-US" sz="1400" dirty="0"/>
          </a:p>
        </p:txBody>
      </p:sp>
      <p:sp>
        <p:nvSpPr>
          <p:cNvPr id="4" name="s11-card-0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Margin rebound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Standalone EBITDA back above 13% for two quarters as ABS and alloy-wheel plants fill up.</a:t>
            </a:r>
            <a:endParaRPr lang="en-US" sz="1100" dirty="0"/>
          </a:p>
        </p:txBody>
      </p:sp>
      <p:sp>
        <p:nvSpPr>
          <p:cNvPr id="9" name="s11-card-1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727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Faster non-Bajaj wins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Non-Bajaj orders running well above the ~₹1,100 Cr/yr average of FY24-FY26.</a:t>
            </a:r>
            <a:endParaRPr lang="en-US" sz="1100" dirty="0"/>
          </a:p>
        </p:txBody>
      </p:sp>
      <p:sp>
        <p:nvSpPr>
          <p:cNvPr id="14" name="s11-card-2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Sector re-rating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Peers stay at 50-80x and money rotates into the cheapest quality name.</a:t>
            </a:r>
            <a:endParaRPr lang="en-US" sz="1100" dirty="0"/>
          </a:p>
        </p:txBody>
      </p:sp>
      <p:sp>
        <p:nvSpPr>
          <p:cNvPr id="19" name="s11-card-3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Lower rates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RBI raised to 5.5% in Oct 2026; a cutting cycle would lower our WACC (each 0.5 pt is worth ~₹130-150/share).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Great business, wrong price: underweight at ₹2,406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We would turn positive near our base-case value (~₹1,564), or sooner if standalone margins recover above 13%.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Sources: Endurance FY26 results press release and Q1 FY27 investor presentation (NSE filings); StockAnalysis.com (S&amp;P Global) financials; ICRA rating rationale (Sep 2025); Damodaran country risk premiums (Jan 2026); Trading Economics (India 10Y, Sep 2026); Value Research, 5paisa, Dhan, sharpely market data (Oct 2026); ACMA and SIAM FY26 industry data.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ite Amber">
  <a:themeElements>
    <a:clrScheme name="Graphite Amber">
      <a:dk1>
        <a:srgbClr val="1B2530"/>
      </a:dk1>
      <a:lt1>
        <a:srgbClr val="FFFFFF"/>
      </a:lt1>
      <a:dk2>
        <a:srgbClr val="2C3E50"/>
      </a:dk2>
      <a:lt2>
        <a:srgbClr val="F2F4F6"/>
      </a:lt2>
      <a:accent1>
        <a:srgbClr val="E39B2D"/>
      </a:accent1>
      <a:accent2>
        <a:srgbClr val="5D7183"/>
      </a:accent2>
      <a:accent3>
        <a:srgbClr val="B23A3A"/>
      </a:accent3>
      <a:accent4>
        <a:srgbClr val="2E7D5B"/>
      </a:accent4>
      <a:accent5>
        <a:srgbClr val="A9B6C2"/>
      </a:accent5>
      <a:accent6>
        <a:srgbClr val="D9DEE3"/>
      </a:accent6>
      <a:hlink>
        <a:srgbClr val="1F5F99"/>
      </a:hlink>
      <a:folHlink>
        <a:srgbClr val="5D7183"/>
      </a:folHlink>
    </a:clrScheme>
    <a:fontScheme name="Graphite Amb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Endurance Technologies: Stock Pitch</dc:title>
  <dc:subject>PptxGenJS Presentation</dc:subject>
  <dc:creator>PptxGenJS</dc:creator>
  <cp:lastModifiedBy>PptxGenJS</cp:lastModifiedBy>
  <cp:revision>1</cp:revision>
  <dcterms:created xsi:type="dcterms:W3CDTF">2026-10-17T21:23:08Z</dcterms:created>
  <dcterms:modified xsi:type="dcterms:W3CDTF">2026-10-17T21:23:08Z</dcterms:modified>
</cp:coreProperties>
</file>